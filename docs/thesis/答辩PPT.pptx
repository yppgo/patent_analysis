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LLM总分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</c:v>
                  </c:pt>
                  <c:pt idx="1">
                    <c:v>A</c:v>
                  </c:pt>
                  <c:pt idx="2">
                    <c:v>B</c:v>
                  </c:pt>
                  <c:pt idx="3">
                    <c:v>C</c:v>
                  </c:pt>
                  <c:pt idx="4">
                    <c:v>E</c:v>
                  </c:pt>
                  <c:pt idx="5">
                    <c:v>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15.47</c:v>
                </c:pt>
                <c:pt idx="1">
                  <c:v>16.53</c:v>
                </c:pt>
                <c:pt idx="2">
                  <c:v>18.6</c:v>
                </c:pt>
                <c:pt idx="3">
                  <c:v>23.87</c:v>
                </c:pt>
                <c:pt idx="4">
                  <c:v>22.07</c:v>
                </c:pt>
                <c:pt idx="5">
                  <c:v>22.2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D_baseline0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相关性</c:v>
                  </c:pt>
                  <c:pt idx="1">
                    <c:v>针对性</c:v>
                  </c:pt>
                  <c:pt idx="2">
                    <c:v>方法合理性</c:v>
                  </c:pt>
                  <c:pt idx="3">
                    <c:v>创新性</c:v>
                  </c:pt>
                  <c:pt idx="4">
                    <c:v>深度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3.73</c:v>
                </c:pt>
                <c:pt idx="1">
                  <c:v>3</c:v>
                </c:pt>
                <c:pt idx="2">
                  <c:v>3.27</c:v>
                </c:pt>
                <c:pt idx="3">
                  <c:v>2.47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A_template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相关性</c:v>
                  </c:pt>
                  <c:pt idx="1">
                    <c:v>针对性</c:v>
                  </c:pt>
                  <c:pt idx="2">
                    <c:v>方法合理性</c:v>
                  </c:pt>
                  <c:pt idx="3">
                    <c:v>创新性</c:v>
                  </c:pt>
                  <c:pt idx="4">
                    <c:v>深度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3.93</c:v>
                </c:pt>
                <c:pt idx="1">
                  <c:v>3.4</c:v>
                </c:pt>
                <c:pt idx="2">
                  <c:v>3.33</c:v>
                </c:pt>
                <c:pt idx="3">
                  <c:v>3.2</c:v>
                </c:pt>
                <c:pt idx="4">
                  <c:v>2.67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B_data_aware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相关性</c:v>
                  </c:pt>
                  <c:pt idx="1">
                    <c:v>针对性</c:v>
                  </c:pt>
                  <c:pt idx="2">
                    <c:v>方法合理性</c:v>
                  </c:pt>
                  <c:pt idx="3">
                    <c:v>创新性</c:v>
                  </c:pt>
                  <c:pt idx="4">
                    <c:v>深度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4.07</c:v>
                </c:pt>
                <c:pt idx="1">
                  <c:v>3.87</c:v>
                </c:pt>
                <c:pt idx="2">
                  <c:v>3.4</c:v>
                </c:pt>
                <c:pt idx="3">
                  <c:v>4.13</c:v>
                </c:pt>
                <c:pt idx="4">
                  <c:v>3.13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C_iterative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相关性</c:v>
                  </c:pt>
                  <c:pt idx="1">
                    <c:v>针对性</c:v>
                  </c:pt>
                  <c:pt idx="2">
                    <c:v>方法合理性</c:v>
                  </c:pt>
                  <c:pt idx="3">
                    <c:v>创新性</c:v>
                  </c:pt>
                  <c:pt idx="4">
                    <c:v>深度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4.93</c:v>
                </c:pt>
                <c:pt idx="1">
                  <c:v>4.73</c:v>
                </c:pt>
                <c:pt idx="2">
                  <c:v>4.73</c:v>
                </c:pt>
                <c:pt idx="3">
                  <c:v>4.73</c:v>
                </c:pt>
                <c:pt idx="4">
                  <c:v>4.73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2D6A9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23774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硕士学位论文答辩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基于数据感知的多智能体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专利分析系统设计与实现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18288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Data-Aware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Patent Analysis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答辩人：XXX     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指导教师：XXX 教授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智慧治理学院 · 电子信息专业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9436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研究背景与问题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专利计量分析的现状与挑战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54480"/>
            <a:ext cx="59436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544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相关工作与定位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数据感知规划的研究空白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103120"/>
            <a:ext cx="59436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031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系统设计方案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四智能体架构与三能力层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56032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651760"/>
            <a:ext cx="59436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6517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关键技术实现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DataPreview · 双图谱 · 两轮迭代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10896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200400"/>
            <a:ext cx="59436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2004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实验与评估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9120" y="3200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 + 消融实验与关键发现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65760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749040"/>
            <a:ext cx="59436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749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应用案例验证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89120" y="3749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三场景端到端分析示例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297680"/>
            <a:ext cx="59436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976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5448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8912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研究贡献与后续方向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研究背景：专利计量分析的挑战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专利数据四重属性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技术属性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IPC分类、技术方案、权利要求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法律属性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授权状态、质押、转让记录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时间属性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申请-授权-维持生命周期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组织属性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发明人、申请人、优先权国家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当前流程痛点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人工密集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变量选择、方法匹配高度依赖专家经验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方案泛化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分析方案与数据特征脱钩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可复现性低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每次分析从零开始，过程难追溯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迭代成本高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发现方案不足后需全流程重来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138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执行层自动化（代码生成/运行）已有较多突破   →   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规划层自动化（方案设计/优化）仍高度依赖人工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13816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核心问题：如何让多智能体系统基于具体数据集，自动生成"数据感知的"分析方案？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研究内容与创新点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1887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数据感知方案生成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3898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DataPreview（列级统计、Pearson相关、时间趋势）+ GraphPreview（社区检测、中心性）→ 结构化洞察 → 分析蓝图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57400"/>
            <a:ext cx="54864" cy="8686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240280"/>
            <a:ext cx="457200" cy="457200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130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双知识图谱协同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441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因果图谱（30变量、99路径）约束假设空间 + 方法图谱（86+方法）约束执行空间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1A233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182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两轮迭代优化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4930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第一轮探索性分析 → 差距识别 → 第二轮验证性深化，从效应发现到机制解释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1005840"/>
            <a:ext cx="29260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1005840"/>
            <a:ext cx="54864" cy="3063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三项创新点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89320" y="15544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提出"数据感知前置"的方案生成流程，将规划起点从问题语义转向数据证据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33172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提出双知识图谱协同架构，因果图谱约束假设合理性，方法图谱约束执行可行性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10896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通过重复实验识别知识图谱收益边界：在结构锚点清晰的问题上作用更明显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论文类型：系统算法类  |  技术路线：系统构建 + 消融实验 + 案例验证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相关工作与研究定位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系统/方法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核心创新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数据感知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规划层优化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知识约束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案例推理(CBR)，历史任务库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Interpreter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动态规划+代码反馈迭代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Scientist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假设→实验→论文全自动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图结构增强复杂问答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本文系统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数据感知+双图谱+迭代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81381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38328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研究空白与本文定位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三类共性不足  →  三项研究内容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规划缺数据感知  →  DataPreview + GraphPreview + 洞察生成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专利文本多、计量分析少  →  四智能体端到端系统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检索问答多、分析引导少  →  双图谱协同约束框架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系统设计方案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28800" y="265176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四智能体流水线架构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三层基础能力（数据感知 · 知识约束 · 执行反馈）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数据感知方案生成流程（核心创新）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系统总体架构：四智能体流水线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(战略家)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双图谱约束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DAG蓝图生成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651760"/>
            <a:ext cx="914400" cy="274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05740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005840"/>
            <a:ext cx="1920240" cy="5029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(方法师)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600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技术规格化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精确执行合同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参数配置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2651760"/>
            <a:ext cx="914400" cy="274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205740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192024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(编码员)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600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结果捕获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2651760"/>
            <a:ext cx="91440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05740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005840"/>
            <a:ext cx="1920240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(评审员)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600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语义评估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最终报告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52360" y="2651760"/>
            <a:ext cx="914400" cy="274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47472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47472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DataPreview + GraphPreview + 洞察生成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347472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474720"/>
            <a:ext cx="54864" cy="7315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知识约束层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8328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因果图谱(30变量) + 方法图谱(86+方法)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347472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3474720"/>
            <a:ext cx="54864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执行反馈层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1792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两轮迭代：探索 → 差距分析 → 验证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三层基础能力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核心创新：数据感知方案生成流程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阶段一：数据事实提取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DataPreview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列类型识别、Pearson相关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分组对比、时间趋势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GraphPreview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自动图构建（引用/共现/合作）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Louvain社区、介数中心性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分层抽样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按IPC分部A-H各抽5条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803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阶段二：洞察生成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LLM提示词融合三类证据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三类洞察输出：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统计信号型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"近年授权专利被引量骤降"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图结构型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"H04L9/40为核心枢纽"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内容驱动型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"硬件安全术语频繁"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97280"/>
            <a:ext cx="54864" cy="25603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阶段三：蓝图规划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15544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2-3 条核心洞察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双图谱约束：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因果图谱 → 约束假设合理性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方法图谱 → 约束方法可行性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输出：DAG任务蓝图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任务依赖关系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列名、参数、输出格式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核心设计原则："数据先证据化、方案后生成" —— 将规划起点从问题语义转向数据事实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双知识图谱协同机制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29260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因果图谱 — 约束假设空间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554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83080" y="1920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因果路径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1554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71800" y="1920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策略模板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六种假设策略模板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60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理论迁移 · 路径探索 · 边界条件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中介机制 · 反事实推理 · 交互效应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先确定"研究什么" → 再确定"怎么做"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54864" cy="2926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方法图谱 — 约束执行空间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6636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分析方法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1228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两大维度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2402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变量测量方法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为每个变量推荐量化方式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统计分析方法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根据假设类型自动匹配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中介假设→Bootstrap中介检验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调节假设→层次回归方法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联动使用：因果图谱确定"研究什么" + 方法图谱确定"怎么做" → 双重约束确保方案可行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两轮迭代优化机制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第一轮：探索性分析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基于数据洞察生成初始DAG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2-3个探索性任务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目标：验证效应存在性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典型方法：OLS · t检验 · 描述统计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9144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0720" y="100584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005840"/>
            <a:ext cx="54864" cy="1645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第二轮：验证性深化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引入控制变量、非线性模型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交互项、机制检验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目标：机制解释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负二项回归 · 层次回归 · ANCOVA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差距分析识别三类缺口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已发现但未深入验证的效应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方案提及但未覆盖的维度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可能受混杂因素影响的结论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设计依据："探索-验证"实证研究经典结构 | 第三轮边际收益递减 | 两轮在深度与成本间最优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实验与评估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28800" y="265176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90组重复实验：渐进叠加主线 + 组件消融补强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六模式总览用于展示整体分布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机制归因回到 D/A/B/C 与 C/E/F 两条比较主线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实验设计：渐进叠加 + 组件消融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2240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主实验：四方案渐进叠加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D_baseline0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纯LLM基线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A_template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加入知识图谱模板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B_data_aware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加入数据感知证据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C_iterative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加入两轮迭代，形成完整系统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397764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960120"/>
            <a:ext cx="54864" cy="2240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补强实验：组件消融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44752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C_iterative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完整系统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E_ablate_data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移除数据感知，保留知识图谱与迭代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F_ablate_kg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移除知识图谱，保留数据感知与迭代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54864" cy="1143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研究问题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233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影响力·融合·竞争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0" y="37490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0" y="40690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实验模式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4233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D/A/B/C + E/F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37490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40690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重复次数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233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每问题每模式独立重复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37490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40690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实验总量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4233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6模式 × 3问题 × 5次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实验结果总览：六模式重复实验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14400"/>
          <a:ext cx="52120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1089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914400"/>
            <a:ext cx="54864" cy="3063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六模式总览（n=5）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47218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1417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C_iterative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0" y="14173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 ± 1.77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1837944"/>
            <a:ext cx="109728" cy="10972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F_ablate_kg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17830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22.20 ± 3.26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9320" y="2203704"/>
            <a:ext cx="10972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148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E_ablate_data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98080" y="21488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22.07 ± 1.75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2569464"/>
            <a:ext cx="109728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2514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B_data_aware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98080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18.60 ± 2.82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89320" y="2935224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2880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A_template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98080" y="2880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16.53 ± 2.64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89320" y="3300984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D_baseline0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98080" y="32461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15.47 ± 1.55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" y="4206240"/>
            <a:ext cx="854964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4206240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说明：六模式图用于展示整体分布；机制归因不依赖总排行榜，而回到四方案渐进叠加与 C/E/F 组件消融。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主实验：四方案渐进叠加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2578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914400"/>
            <a:ext cx="3063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91440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016752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四方案总分（均值 ± 标准差）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16752" y="1371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C_iterative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60920" y="1371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 ± 1.77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16752" y="16733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B_data_aware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60920" y="1673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18.60 ± 2.82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16752" y="19751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A_template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360920" y="1975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16.53 ± 2.64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16752" y="22768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D_baseline0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360920" y="22768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15.47 ± 1.55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16752" y="2148840"/>
          <a:ext cx="25603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640080"/>
                <a:gridCol w="640080"/>
                <a:gridCol w="64008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影响力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融合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竞争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274320" y="4160520"/>
            <a:ext cx="8595360" cy="53035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41605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主实验结论：C稳定最优，B稳定优于A/D；A与D差距有限，说明仅知识模板不足以稳定拉开性能差距。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组件消融：C / E / F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C_iterative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261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完整系统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23.87 ± 1.77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 + 知识图谱 + 两轮迭代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E_ablate_data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261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移除数据感知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64992" y="15727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22.07 ± 1.75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4992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 + 两轮迭代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9144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14400"/>
            <a:ext cx="54864" cy="1417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F_ablate_kg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5352" y="1261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移除知识图谱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45352" y="15727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22.20 ± 3.26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5352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 + 两轮迭代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606040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0604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数据感知的直接贡献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0352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vs E：总分提升 1.80 分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针对性引用数 14.2 → 3.0，降幅最明显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 DataPreview/GraphPreview 直接决定方案是否围绕证据组织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606040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606040"/>
            <a:ext cx="54864" cy="1417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知识图谱的任务依赖贡献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73752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Q1：F(24.6) &gt; C(22.2)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Q2：C(24.6) &gt; F(21.4)；Q3：C(24.8) &gt; F(20.6)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平均上 C &gt; F，但图谱收益强度随问题结构变化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206240"/>
            <a:ext cx="854964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206240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消融结论：移除数据感知或知识图谱都会拉低平均表现；完整系统在平均意义上最优，但知识图谱收益具有明显任务依赖性。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应用案例验证：三场景端到端分析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974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技术影响力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驱动因素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多元回归检验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技术跨界度→影响力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IPC共现特征+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负二项回归+中介检验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100%成功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假设未支持→替代机制探索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05840"/>
            <a:ext cx="2697480" cy="6400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005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03320" y="1005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技术融合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趋势识别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桥接IPC提取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法律状态×融合度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层次回归+LDA主题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识别5个融合簇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0332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100%成功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918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宏观结构→微观融合簇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100584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005840"/>
            <a:ext cx="269748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005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29400" y="1005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国家竞争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态势评估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质押专利中心性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国家×技术分布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第二轮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聚类+ANCOVA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控制专利年龄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200400"/>
            <a:ext cx="24688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6294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100%成功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国家对比→独立效应验证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案例页用于展示端到端执行链路；关于系统优劣与组件贡献的解释，以前述90组重复实验结论为准。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研究贡献与展望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389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3200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三项研究贡献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09728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理论贡献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554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将关注点从"执行正确性"前移到"规划合理性"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并刻画知识图谱收益的任务依赖边界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097280" cy="274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方法贡献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可复用系统范式：数据感知 + 双图谱 + 迭代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可迁移到其他结构化分析场景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1097280" cy="2743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实践贡献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91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可落地工程资产：主流程代码、实验输出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支持后续复验与扩展开发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005840"/>
            <a:ext cx="54864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后续研究方向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66360" y="155448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554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3212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统计稳健性增强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在已有n=5基础上补bootstrap CI与显著性检验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66360" y="2084832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32120" y="2039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混合评审框架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+ 领域专家盲审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66360" y="261518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615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25694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自适应约束强度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基于数据信号强度动态调节图谱权重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66360" y="314553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32120" y="3099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广度-深度平衡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最低覆盖率阈值 + 动态任务数校准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367588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3630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跨领域迁移验证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生物医药 · 新能源 · 半导体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核心命题验证：数据感知多智能体框架有效提升专利分析方案的质量与深度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2D6A9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感谢各位老师指导！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敬请批评指正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基于数据感知的多智能体专利分析系统设计与实现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基于数据感知的多智能体专利分析系统设计与实现</dc:title>
  <dc:subject>PptxGenJS Presentation</dc:subject>
  <dc:creator>作者</dc:creator>
  <cp:lastModifiedBy>作者</cp:lastModifiedBy>
  <cp:revision>1</cp:revision>
  <dcterms:created xsi:type="dcterms:W3CDTF">2026-03-13T13:50:22Z</dcterms:created>
  <dcterms:modified xsi:type="dcterms:W3CDTF">2026-03-13T13:50:22Z</dcterms:modified>
</cp:coreProperties>
</file>