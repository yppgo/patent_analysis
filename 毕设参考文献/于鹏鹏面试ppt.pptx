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039" r:id="rId3"/>
    <p:sldId id="1103" r:id="rId5"/>
    <p:sldId id="1104" r:id="rId6"/>
    <p:sldId id="1113" r:id="rId7"/>
    <p:sldId id="1114" r:id="rId8"/>
    <p:sldId id="1115" r:id="rId9"/>
    <p:sldId id="1116" r:id="rId10"/>
    <p:sldId id="1117" r:id="rId11"/>
    <p:sldId id="1118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2C41"/>
    <a:srgbClr val="8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68" autoAdjust="0"/>
    <p:restoredTop sz="91602" autoAdjust="0"/>
  </p:normalViewPr>
  <p:slideViewPr>
    <p:cSldViewPr snapToGrid="0">
      <p:cViewPr>
        <p:scale>
          <a:sx n="75" d="100"/>
          <a:sy n="75" d="100"/>
        </p:scale>
        <p:origin x="64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63B1AE-57BF-426B-B47B-8F816152B18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235D990-D27F-4F2C-9FEA-C8DF9BEEB4E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4" y="1784974"/>
            <a:ext cx="8361229" cy="1234739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200" cap="all" baseline="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3" y="3837604"/>
            <a:ext cx="6831673" cy="10862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CE94429-6F4A-45F8-B334-0DDB9F9C40E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  <a:prstGeom prst="rect">
            <a:avLst/>
          </a:prstGeo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CN" altLang="en-US" dirty="0"/>
          </a:p>
        </p:txBody>
      </p:sp>
      <p:grpSp>
        <p:nvGrpSpPr>
          <p:cNvPr id="10" name="组合 16"/>
          <p:cNvGrpSpPr/>
          <p:nvPr userDrawn="1"/>
        </p:nvGrpSpPr>
        <p:grpSpPr>
          <a:xfrm>
            <a:off x="-6096" y="6552045"/>
            <a:ext cx="12208256" cy="307777"/>
            <a:chOff x="-337453" y="7423512"/>
            <a:chExt cx="12418449" cy="540268"/>
          </a:xfrm>
        </p:grpSpPr>
        <p:pic>
          <p:nvPicPr>
            <p:cNvPr id="11" name="Picture 24" descr="aaaa004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2821" y="7475260"/>
              <a:ext cx="12192000" cy="39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 Box 17"/>
            <p:cNvSpPr txBox="1">
              <a:spLocks noChangeArrowheads="1"/>
            </p:cNvSpPr>
            <p:nvPr userDrawn="1"/>
          </p:nvSpPr>
          <p:spPr bwMode="auto">
            <a:xfrm>
              <a:off x="-337453" y="7423512"/>
              <a:ext cx="12418449" cy="540268"/>
            </a:xfrm>
            <a:prstGeom prst="rect">
              <a:avLst/>
            </a:prstGeom>
            <a:solidFill>
              <a:srgbClr val="7E2520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400" b="0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0" i="1" baseline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Renmin University of China</a:t>
              </a:r>
              <a:endParaRPr lang="zh-CN" altLang="zh-CN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182" y="-27"/>
            <a:ext cx="2129818" cy="87282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0" y="1080045"/>
            <a:ext cx="12200400" cy="5472000"/>
          </a:xfrm>
          <a:prstGeom prst="rect">
            <a:avLst/>
          </a:prstGeom>
        </p:spPr>
        <p:txBody>
          <a:bodyPr/>
          <a:lstStyle>
            <a:lvl1pPr marL="384175" indent="-384175">
              <a:buFont typeface="Wingdings" panose="05000000000000000000" pitchFamily="2" charset="2"/>
              <a:buChar char="Ø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indent="-384175">
              <a:buFont typeface="Wingdings" panose="05000000000000000000" pitchFamily="2" charset="2"/>
              <a:buChar char="Ø"/>
              <a:defRPr sz="1800" i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371600" indent="-384175">
              <a:buFont typeface="Wingdings" panose="05000000000000000000" pitchFamily="2" charset="2"/>
              <a:buChar char="Ø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0" y="241633"/>
            <a:ext cx="9601200" cy="684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-6096" y="6552045"/>
            <a:ext cx="12208256" cy="307777"/>
            <a:chOff x="-337453" y="7423512"/>
            <a:chExt cx="12418449" cy="540268"/>
          </a:xfrm>
        </p:grpSpPr>
        <p:pic>
          <p:nvPicPr>
            <p:cNvPr id="18" name="Picture 24" descr="aaaa004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2821" y="7475260"/>
              <a:ext cx="12192000" cy="39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Text Box 17"/>
            <p:cNvSpPr txBox="1">
              <a:spLocks noChangeArrowheads="1"/>
            </p:cNvSpPr>
            <p:nvPr userDrawn="1"/>
          </p:nvSpPr>
          <p:spPr bwMode="auto">
            <a:xfrm>
              <a:off x="-337453" y="7423512"/>
              <a:ext cx="12418449" cy="540268"/>
            </a:xfrm>
            <a:prstGeom prst="rect">
              <a:avLst/>
            </a:prstGeom>
            <a:solidFill>
              <a:srgbClr val="7E2520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400" b="0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b="0" i="1" baseline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Renmin University of China</a:t>
              </a:r>
              <a:endParaRPr lang="zh-CN" altLang="zh-CN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182" y="-27"/>
            <a:ext cx="2129818" cy="872826"/>
          </a:xfrm>
          <a:prstGeom prst="rect">
            <a:avLst/>
          </a:prstGeom>
        </p:spPr>
      </p:pic>
      <p:sp>
        <p:nvSpPr>
          <p:cNvPr id="13" name="圆角矩形 14"/>
          <p:cNvSpPr/>
          <p:nvPr userDrawn="1"/>
        </p:nvSpPr>
        <p:spPr>
          <a:xfrm>
            <a:off x="-6096" y="872799"/>
            <a:ext cx="12198096" cy="52948"/>
          </a:xfrm>
          <a:prstGeom prst="roundRect">
            <a:avLst/>
          </a:prstGeom>
          <a:solidFill>
            <a:srgbClr val="9C0C15"/>
          </a:solidFill>
          <a:ln>
            <a:solidFill>
              <a:srgbClr val="9C0C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752858" y="6453386"/>
            <a:ext cx="1607944" cy="404614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C24639D-B92F-4231-AE89-0AB9795138FE}" type="datetime1">
              <a:rPr lang="zh-CN" altLang="en-US" smtClean="0"/>
            </a:fld>
            <a:endParaRPr lang="zh-CN" alt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4054" y="6453386"/>
            <a:ext cx="7023377" cy="404614"/>
          </a:xfrm>
          <a:prstGeom prst="rect">
            <a:avLst/>
          </a:prstGeo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235D990-D27F-4F2C-9FEA-C8DF9BEEB4E2}" type="slidenum">
              <a:rPr lang="zh-CN" altLang="en-US" smtClean="0"/>
            </a:fld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-6096" y="6552045"/>
            <a:ext cx="12208256" cy="307777"/>
            <a:chOff x="-337453" y="7423512"/>
            <a:chExt cx="12418449" cy="540268"/>
          </a:xfrm>
        </p:grpSpPr>
        <p:pic>
          <p:nvPicPr>
            <p:cNvPr id="18" name="Picture 24" descr="aaaa004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2821" y="7475260"/>
              <a:ext cx="12192000" cy="39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Text Box 17"/>
            <p:cNvSpPr txBox="1">
              <a:spLocks noChangeArrowheads="1"/>
            </p:cNvSpPr>
            <p:nvPr userDrawn="1"/>
          </p:nvSpPr>
          <p:spPr bwMode="auto">
            <a:xfrm>
              <a:off x="-337453" y="7423512"/>
              <a:ext cx="12418449" cy="540268"/>
            </a:xfrm>
            <a:prstGeom prst="rect">
              <a:avLst/>
            </a:prstGeom>
            <a:solidFill>
              <a:srgbClr val="7E2520"/>
            </a:solidFill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400" b="0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0" i="1" baseline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Renmin University of China</a:t>
              </a:r>
              <a:endParaRPr lang="zh-CN" altLang="zh-CN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Title 1"/>
          <p:cNvSpPr txBox="1"/>
          <p:nvPr userDrawn="1"/>
        </p:nvSpPr>
        <p:spPr>
          <a:xfrm>
            <a:off x="1915124" y="1784974"/>
            <a:ext cx="8361229" cy="1234739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2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7" name="Subtitle 2"/>
          <p:cNvSpPr txBox="1"/>
          <p:nvPr userDrawn="1"/>
        </p:nvSpPr>
        <p:spPr>
          <a:xfrm>
            <a:off x="2679903" y="3837604"/>
            <a:ext cx="6831673" cy="10862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400" kern="1200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182" y="-27"/>
            <a:ext cx="2129818" cy="8728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8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8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2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2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-1" y="2549746"/>
            <a:ext cx="12192000" cy="2052630"/>
          </a:xfrm>
          <a:prstGeom prst="rect">
            <a:avLst/>
          </a:prstGeom>
          <a:solidFill>
            <a:srgbClr val="AE0C2A"/>
          </a:solidFill>
          <a:ln>
            <a:solidFill>
              <a:srgbClr val="AE0C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于鹏鹏履历简介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2680162" y="5054552"/>
            <a:ext cx="6831673" cy="1086237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2025/11/17</a:t>
            </a:r>
            <a:endParaRPr kumimoji="1" lang="en-US" altLang="zh-CN" dirty="0"/>
          </a:p>
          <a:p>
            <a:r>
              <a:rPr kumimoji="1" lang="zh-CN" altLang="en-US" dirty="0"/>
              <a:t>于鹏鹏</a:t>
            </a:r>
            <a:endParaRPr kumimoji="1" lang="en-US" altLang="zh-CN" dirty="0"/>
          </a:p>
          <a:p>
            <a:endParaRPr kumimoji="1" lang="en-US" altLang="zh-CN" dirty="0"/>
          </a:p>
        </p:txBody>
      </p:sp>
      <p:pic>
        <p:nvPicPr>
          <p:cNvPr id="2" name="Picture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264" y="828521"/>
            <a:ext cx="5729542" cy="11471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197708" y="204562"/>
            <a:ext cx="9601200" cy="684114"/>
          </a:xfrm>
        </p:spPr>
        <p:txBody>
          <a:bodyPr>
            <a:normAutofit/>
          </a:bodyPr>
          <a:lstStyle/>
          <a:p>
            <a:r>
              <a:rPr kumimoji="1" lang="zh-CN" altLang="en-US" sz="3600" b="1" dirty="0">
                <a:solidFill>
                  <a:srgbClr val="8C2C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个人简介</a:t>
            </a:r>
            <a:endParaRPr kumimoji="1" lang="zh-CN" altLang="en-US" sz="3600" b="1" dirty="0">
              <a:solidFill>
                <a:srgbClr val="8C2C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71581" y="1017946"/>
            <a:ext cx="5379843" cy="3976842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b="1" dirty="0">
                <a:latin typeface="+mj-ea"/>
                <a:ea typeface="+mj-ea"/>
                <a:sym typeface="+mn-ea"/>
              </a:rPr>
              <a:t>个人履历：</a:t>
            </a:r>
            <a:endParaRPr lang="zh-CN" altLang="en-US" sz="1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+mj-ea"/>
                <a:ea typeface="+mj-ea"/>
              </a:rPr>
              <a:t>2015.09-2018.06 </a:t>
            </a:r>
            <a:r>
              <a:rPr lang="zh-CN" altLang="en-US" sz="1600" dirty="0">
                <a:latin typeface="+mj-ea"/>
                <a:ea typeface="+mj-ea"/>
              </a:rPr>
              <a:t>江苏省海头高级中学读高中</a:t>
            </a:r>
            <a:endParaRPr lang="zh-CN" altLang="en-US" sz="1600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+mj-ea"/>
                <a:ea typeface="+mj-ea"/>
              </a:rPr>
              <a:t>2018.09-2023.06 </a:t>
            </a:r>
            <a:r>
              <a:rPr lang="zh-CN" altLang="en-US" sz="1600" dirty="0">
                <a:latin typeface="+mj-ea"/>
                <a:ea typeface="+mj-ea"/>
              </a:rPr>
              <a:t>江苏海洋大学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软件工程</a:t>
            </a:r>
            <a:r>
              <a:rPr lang="zh-CN" altLang="en-US" sz="1600" dirty="0">
                <a:latin typeface="+mj-ea"/>
                <a:ea typeface="+mj-ea"/>
              </a:rPr>
              <a:t>专业读本科</a:t>
            </a:r>
            <a:endParaRPr lang="zh-CN" altLang="en-US" sz="1600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+mj-ea"/>
                <a:ea typeface="+mj-ea"/>
              </a:rPr>
              <a:t>2023.08-2024.08</a:t>
            </a:r>
            <a:r>
              <a:rPr lang="zh-CN" altLang="en-US" sz="1600" dirty="0">
                <a:latin typeface="+mj-ea"/>
                <a:ea typeface="+mj-ea"/>
              </a:rPr>
              <a:t>江苏自动化研究所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信息转换员</a:t>
            </a:r>
            <a:endParaRPr lang="zh-CN" altLang="en-US" sz="1600" b="1" dirty="0">
              <a:solidFill>
                <a:srgbClr val="8C2C41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+mj-ea"/>
                <a:ea typeface="+mj-ea"/>
              </a:rPr>
              <a:t>2024.09-  </a:t>
            </a:r>
            <a:r>
              <a:rPr lang="zh-CN" altLang="en-US" sz="1600" dirty="0">
                <a:latin typeface="+mj-ea"/>
                <a:ea typeface="+mj-ea"/>
              </a:rPr>
              <a:t>至今中国人民大学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人工智能</a:t>
            </a:r>
            <a:r>
              <a:rPr lang="zh-CN" altLang="en-US" sz="1600" dirty="0">
                <a:latin typeface="+mj-ea"/>
                <a:ea typeface="+mj-ea"/>
              </a:rPr>
              <a:t>专业读硕士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200000"/>
              </a:lnSpc>
            </a:pPr>
            <a:r>
              <a:rPr lang="zh-CN" altLang="en-US" sz="1400" b="1" dirty="0">
                <a:latin typeface="+mj-ea"/>
                <a:ea typeface="+mj-ea"/>
              </a:rPr>
              <a:t>学习</a:t>
            </a:r>
            <a:r>
              <a:rPr lang="en-US" altLang="zh-CN" sz="1400" b="1" dirty="0">
                <a:latin typeface="+mj-ea"/>
                <a:ea typeface="+mj-ea"/>
              </a:rPr>
              <a:t>&amp;</a:t>
            </a:r>
            <a:r>
              <a:rPr lang="zh-CN" altLang="en-US" sz="1400" b="1" dirty="0">
                <a:latin typeface="+mj-ea"/>
                <a:ea typeface="+mj-ea"/>
              </a:rPr>
              <a:t>任职：</a:t>
            </a:r>
            <a:endParaRPr lang="en-US" altLang="zh-CN" sz="1400" b="1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j-ea"/>
                <a:ea typeface="+mj-ea"/>
              </a:rPr>
              <a:t>本科：平均学分绩点</a:t>
            </a:r>
            <a:r>
              <a:rPr lang="en-US" altLang="zh-CN" sz="1600" b="1" dirty="0">
                <a:solidFill>
                  <a:srgbClr val="8C2C41"/>
                </a:solidFill>
                <a:latin typeface="+mj-ea"/>
                <a:ea typeface="+mj-ea"/>
              </a:rPr>
              <a:t>4.56/5</a:t>
            </a:r>
            <a:r>
              <a:rPr lang="en-US" altLang="zh-CN" sz="1600" dirty="0">
                <a:latin typeface="+mj-ea"/>
                <a:ea typeface="+mj-ea"/>
              </a:rPr>
              <a:t> </a:t>
            </a:r>
            <a:r>
              <a:rPr lang="zh-CN" altLang="en-US" sz="1600" dirty="0">
                <a:latin typeface="+mj-ea"/>
                <a:ea typeface="+mj-ea"/>
              </a:rPr>
              <a:t>，前</a:t>
            </a:r>
            <a:r>
              <a:rPr lang="en-US" altLang="zh-CN" sz="1600" b="1" dirty="0">
                <a:solidFill>
                  <a:srgbClr val="8C2C41"/>
                </a:solidFill>
                <a:latin typeface="+mj-ea"/>
                <a:ea typeface="+mj-ea"/>
              </a:rPr>
              <a:t>5%</a:t>
            </a:r>
            <a:r>
              <a:rPr lang="zh-CN" altLang="en-US" sz="1600" dirty="0">
                <a:latin typeface="+mj-ea"/>
                <a:ea typeface="+mj-ea"/>
              </a:rPr>
              <a:t>，共</a:t>
            </a:r>
            <a:r>
              <a:rPr lang="en-US" altLang="zh-CN" sz="1600" dirty="0">
                <a:latin typeface="+mj-ea"/>
                <a:ea typeface="+mj-ea"/>
              </a:rPr>
              <a:t>85</a:t>
            </a:r>
            <a:r>
              <a:rPr lang="zh-CN" altLang="en-US" sz="1600" dirty="0">
                <a:latin typeface="+mj-ea"/>
                <a:ea typeface="+mj-ea"/>
              </a:rPr>
              <a:t>人，担任班级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班长</a:t>
            </a:r>
            <a:endParaRPr lang="en-US" altLang="zh-CN" sz="1600" b="1" dirty="0">
              <a:solidFill>
                <a:srgbClr val="8C2C41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j-ea"/>
                <a:ea typeface="+mj-ea"/>
              </a:rPr>
              <a:t>硕士：平均学分绩点</a:t>
            </a:r>
            <a:r>
              <a:rPr lang="en-US" altLang="zh-CN" sz="1600" b="1" dirty="0">
                <a:solidFill>
                  <a:srgbClr val="8C2C41"/>
                </a:solidFill>
                <a:latin typeface="+mj-ea"/>
                <a:ea typeface="+mj-ea"/>
              </a:rPr>
              <a:t>3.56/4</a:t>
            </a:r>
            <a:r>
              <a:rPr lang="zh-CN" altLang="en-US" sz="1600" dirty="0">
                <a:latin typeface="+mj-ea"/>
                <a:ea typeface="+mj-ea"/>
              </a:rPr>
              <a:t>， 前</a:t>
            </a:r>
            <a:r>
              <a:rPr lang="en-US" altLang="zh-CN" sz="1600" b="1" dirty="0">
                <a:solidFill>
                  <a:srgbClr val="8C2C41"/>
                </a:solidFill>
                <a:latin typeface="+mj-ea"/>
                <a:ea typeface="+mj-ea"/>
              </a:rPr>
              <a:t>30%</a:t>
            </a:r>
            <a:r>
              <a:rPr lang="zh-CN" altLang="en-US" sz="1600" dirty="0">
                <a:latin typeface="+mj-ea"/>
                <a:ea typeface="+mj-ea"/>
              </a:rPr>
              <a:t>，共</a:t>
            </a:r>
            <a:r>
              <a:rPr lang="en-US" altLang="zh-CN" sz="1600" dirty="0">
                <a:latin typeface="+mj-ea"/>
                <a:ea typeface="+mj-ea"/>
              </a:rPr>
              <a:t>34</a:t>
            </a:r>
            <a:r>
              <a:rPr lang="zh-CN" altLang="en-US" sz="1600" dirty="0">
                <a:latin typeface="+mj-ea"/>
                <a:ea typeface="+mj-ea"/>
              </a:rPr>
              <a:t>人，担任电子信息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党支部宣传委员</a:t>
            </a:r>
            <a:endParaRPr lang="en-US" altLang="zh-CN" sz="1600" b="1" dirty="0">
              <a:solidFill>
                <a:srgbClr val="8C2C4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+mj-ea"/>
                <a:ea typeface="+mj-ea"/>
              </a:rPr>
              <a:t>获奖情况：</a:t>
            </a:r>
            <a:endParaRPr lang="en-US" altLang="zh-CN" sz="1400" b="1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j-ea"/>
                <a:ea typeface="+mj-ea"/>
              </a:rPr>
              <a:t>国家励志奖学金</a:t>
            </a:r>
            <a:r>
              <a:rPr lang="en-US" altLang="zh-CN" sz="1600" dirty="0">
                <a:latin typeface="+mj-ea"/>
                <a:ea typeface="+mj-ea"/>
              </a:rPr>
              <a:t>*2                        </a:t>
            </a:r>
            <a:r>
              <a:rPr lang="zh-CN" altLang="en-US" sz="1600" dirty="0">
                <a:latin typeface="+mj-ea"/>
                <a:ea typeface="+mj-ea"/>
              </a:rPr>
              <a:t>三好学生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j-ea"/>
                <a:ea typeface="+mj-ea"/>
              </a:rPr>
              <a:t>校二等奖学金</a:t>
            </a:r>
            <a:r>
              <a:rPr lang="en-US" altLang="zh-CN" sz="1600" dirty="0">
                <a:latin typeface="+mj-ea"/>
                <a:ea typeface="+mj-ea"/>
              </a:rPr>
              <a:t>*3                           </a:t>
            </a:r>
            <a:r>
              <a:rPr lang="zh-CN" altLang="en-US" sz="1600" dirty="0">
                <a:latin typeface="+mj-ea"/>
                <a:ea typeface="+mj-ea"/>
              </a:rPr>
              <a:t>优秀班干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j-ea"/>
                <a:ea typeface="+mj-ea"/>
              </a:rPr>
              <a:t>校一等奖学金</a:t>
            </a:r>
            <a:r>
              <a:rPr lang="en-US" altLang="zh-CN" sz="1600" dirty="0">
                <a:latin typeface="+mj-ea"/>
                <a:ea typeface="+mj-ea"/>
              </a:rPr>
              <a:t>*1                           </a:t>
            </a:r>
            <a:r>
              <a:rPr lang="zh-CN" altLang="en-US" sz="1600" dirty="0">
                <a:latin typeface="+mj-ea"/>
                <a:ea typeface="+mj-ea"/>
              </a:rPr>
              <a:t>高数竞赛省一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j-ea"/>
                <a:ea typeface="+mj-ea"/>
              </a:rPr>
              <a:t>优秀毕业生                                  英语竞赛校一</a:t>
            </a:r>
            <a:endParaRPr lang="en-US" altLang="zh-CN" sz="1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latin typeface="+mj-ea"/>
              <a:ea typeface="+mj-ea"/>
            </a:endParaRPr>
          </a:p>
        </p:txBody>
      </p:sp>
      <p:pic>
        <p:nvPicPr>
          <p:cNvPr id="10" name="图片 9"/>
          <p:cNvPicPr/>
          <p:nvPr/>
        </p:nvPicPr>
        <p:blipFill>
          <a:blip r:embed="rId1"/>
          <a:srcRect l="-507" t="-1007" r="507" b="1007"/>
          <a:stretch>
            <a:fillRect/>
          </a:stretch>
        </p:blipFill>
        <p:spPr>
          <a:xfrm>
            <a:off x="1364392" y="1017945"/>
            <a:ext cx="1939413" cy="1952172"/>
          </a:xfrm>
          <a:prstGeom prst="ellipse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515745" y="3510915"/>
            <a:ext cx="16363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+mj-ea"/>
                <a:ea typeface="+mj-ea"/>
              </a:rPr>
              <a:t>意向岗位：工程师</a:t>
            </a:r>
            <a:endParaRPr lang="zh-CN" altLang="en-US" sz="14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197708" y="204562"/>
            <a:ext cx="9601200" cy="684114"/>
          </a:xfrm>
        </p:spPr>
        <p:txBody>
          <a:bodyPr>
            <a:normAutofit/>
          </a:bodyPr>
          <a:lstStyle/>
          <a:p>
            <a:r>
              <a:rPr kumimoji="1" lang="zh-CN" altLang="en-US" sz="3600" b="1" dirty="0">
                <a:solidFill>
                  <a:srgbClr val="8C2C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研究方向与技能</a:t>
            </a:r>
            <a:endParaRPr kumimoji="1" lang="zh-CN" altLang="en-US" sz="3600" b="1" dirty="0">
              <a:solidFill>
                <a:srgbClr val="8C2C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1174" y="1054735"/>
            <a:ext cx="6223923" cy="537781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20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</a:rPr>
              <a:t>、主要研究方向</a:t>
            </a:r>
            <a:endParaRPr lang="en-US" altLang="zh-CN" sz="16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  <a:sym typeface="+mn-ea"/>
              </a:rPr>
              <a:t>数据治理 </a:t>
            </a:r>
            <a:r>
              <a:rPr lang="en-US" altLang="zh-CN" sz="1600" b="1" dirty="0">
                <a:latin typeface="+mj-ea"/>
                <a:ea typeface="+mj-ea"/>
                <a:sym typeface="+mn-ea"/>
              </a:rPr>
              <a:t>&amp; </a:t>
            </a:r>
            <a:r>
              <a:rPr lang="zh-CN" altLang="en-US" sz="1600" b="1" dirty="0">
                <a:latin typeface="+mj-ea"/>
                <a:ea typeface="+mj-ea"/>
                <a:sym typeface="+mn-ea"/>
              </a:rPr>
              <a:t>基于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  <a:sym typeface="+mn-ea"/>
              </a:rPr>
              <a:t>多智能体</a:t>
            </a:r>
            <a:r>
              <a:rPr lang="zh-CN" altLang="en-US" sz="1600" b="1" dirty="0">
                <a:latin typeface="+mj-ea"/>
                <a:ea typeface="+mj-ea"/>
                <a:sym typeface="+mn-ea"/>
              </a:rPr>
              <a:t>的复杂任务处理</a:t>
            </a:r>
            <a:endParaRPr lang="en-US" altLang="zh-CN" sz="1600" b="1" dirty="0">
              <a:latin typeface="+mj-ea"/>
              <a:ea typeface="+mj-ea"/>
              <a:sym typeface="+mn-ea"/>
            </a:endParaRPr>
          </a:p>
          <a:p>
            <a:pPr algn="l">
              <a:lnSpc>
                <a:spcPct val="200000"/>
              </a:lnSpc>
            </a:pPr>
            <a:r>
              <a:rPr lang="en-US" altLang="zh-CN" sz="1600" b="1" dirty="0">
                <a:latin typeface="+mj-ea"/>
                <a:ea typeface="+mj-ea"/>
                <a:sym typeface="+mn-ea"/>
              </a:rPr>
              <a:t>2</a:t>
            </a:r>
            <a:r>
              <a:rPr lang="zh-CN" altLang="en-US" sz="1600" b="1" dirty="0">
                <a:latin typeface="+mj-ea"/>
                <a:ea typeface="+mj-ea"/>
                <a:sym typeface="+mn-ea"/>
              </a:rPr>
              <a:t>、</a:t>
            </a: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</a:rPr>
              <a:t>相关项目</a:t>
            </a:r>
            <a:endParaRPr lang="en-US" altLang="zh-CN" sz="16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</a:rPr>
              <a:t>国家信息中心</a:t>
            </a:r>
            <a:r>
              <a:rPr lang="en-US" altLang="zh-CN" sz="1600" b="1" dirty="0">
                <a:solidFill>
                  <a:schemeClr val="tx1"/>
                </a:solidFill>
                <a:latin typeface="+mj-ea"/>
                <a:ea typeface="+mj-ea"/>
              </a:rPr>
              <a:t>-</a:t>
            </a: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</a:rPr>
              <a:t>数据流通安全治理框架：</a:t>
            </a:r>
            <a:r>
              <a:rPr lang="zh-CN" altLang="en-US" sz="1600" dirty="0">
                <a:solidFill>
                  <a:schemeClr val="tx1"/>
                </a:solidFill>
                <a:latin typeface="+mj-ea"/>
                <a:ea typeface="+mj-ea"/>
              </a:rPr>
              <a:t>项目组核心成员</a:t>
            </a:r>
            <a:endParaRPr lang="en-US" altLang="zh-CN" sz="16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+mj-ea"/>
                <a:ea typeface="+mj-ea"/>
              </a:rPr>
              <a:t>中国工程院</a:t>
            </a:r>
            <a:r>
              <a:rPr lang="en-US" altLang="zh-CN" sz="1600" b="1" dirty="0">
                <a:latin typeface="+mj-ea"/>
                <a:ea typeface="+mj-ea"/>
              </a:rPr>
              <a:t>-</a:t>
            </a:r>
            <a:r>
              <a:rPr lang="zh-CN" altLang="en-US" sz="1600" b="1" dirty="0">
                <a:latin typeface="+mj-ea"/>
                <a:ea typeface="+mj-ea"/>
              </a:rPr>
              <a:t>数据流通背景下的数据安全治理体系研究报告：</a:t>
            </a:r>
            <a:r>
              <a:rPr lang="zh-CN" altLang="en-US" sz="1600" dirty="0">
                <a:latin typeface="+mj-ea"/>
                <a:ea typeface="+mj-ea"/>
              </a:rPr>
              <a:t>项目组核心成员</a:t>
            </a:r>
            <a:endParaRPr lang="en-US" altLang="zh-CN" sz="1600" dirty="0">
              <a:latin typeface="+mj-ea"/>
              <a:ea typeface="+mj-ea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+mj-ea"/>
                <a:ea typeface="+mj-ea"/>
              </a:rPr>
              <a:t>一网治之（中国人民大学</a:t>
            </a:r>
            <a:r>
              <a:rPr lang="en-US" altLang="zh-CN" sz="1600" b="1" dirty="0">
                <a:latin typeface="+mj-ea"/>
                <a:ea typeface="+mj-ea"/>
              </a:rPr>
              <a:t>-</a:t>
            </a:r>
            <a:r>
              <a:rPr lang="zh-CN" altLang="en-US" sz="1600" b="1" dirty="0">
                <a:latin typeface="+mj-ea"/>
                <a:ea typeface="+mj-ea"/>
              </a:rPr>
              <a:t>华为）：</a:t>
            </a:r>
            <a:r>
              <a:rPr lang="zh-CN" altLang="en-US" sz="1600" dirty="0">
                <a:latin typeface="+mj-ea"/>
                <a:ea typeface="+mj-ea"/>
              </a:rPr>
              <a:t>项目组核心成员</a:t>
            </a:r>
            <a:endParaRPr lang="en-US" altLang="zh-CN" sz="1600" dirty="0">
              <a:latin typeface="+mj-ea"/>
              <a:ea typeface="+mj-ea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+mj-ea"/>
                <a:ea typeface="+mj-ea"/>
              </a:rPr>
              <a:t>基于多智能体的数据分析系统：</a:t>
            </a:r>
            <a:r>
              <a:rPr lang="zh-CN" altLang="en-US" sz="1600" dirty="0">
                <a:latin typeface="+mj-ea"/>
                <a:ea typeface="+mj-ea"/>
              </a:rPr>
              <a:t>项目负责人</a:t>
            </a:r>
            <a:endParaRPr lang="en-US" altLang="zh-CN" sz="1600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600" dirty="0"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endParaRPr lang="zh-CN" altLang="en-US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6112" y="1688620"/>
            <a:ext cx="3014663" cy="30810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170" y="2484968"/>
            <a:ext cx="2324040" cy="302048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097" y="1216563"/>
            <a:ext cx="2652713" cy="9441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197708" y="204562"/>
            <a:ext cx="9601200" cy="684114"/>
          </a:xfrm>
        </p:spPr>
        <p:txBody>
          <a:bodyPr>
            <a:normAutofit/>
          </a:bodyPr>
          <a:lstStyle/>
          <a:p>
            <a:r>
              <a:rPr kumimoji="1" lang="zh-CN" altLang="en-US" sz="3600" b="1" dirty="0">
                <a:solidFill>
                  <a:srgbClr val="8C2C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研究方向与技能</a:t>
            </a:r>
            <a:endParaRPr kumimoji="1" lang="zh-CN" altLang="en-US" sz="3600" b="1" dirty="0">
              <a:solidFill>
                <a:srgbClr val="8C2C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1174" y="1007110"/>
            <a:ext cx="6223923" cy="537781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20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</a:rPr>
              <a:t>专业技能：</a:t>
            </a:r>
            <a:endParaRPr lang="en-US" altLang="zh-CN" sz="16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/>
              <a:t>1.</a:t>
            </a:r>
            <a:r>
              <a:rPr lang="zh-CN" altLang="en-US" sz="1600" dirty="0"/>
              <a:t>熟练掌握</a:t>
            </a:r>
            <a:r>
              <a:rPr lang="en-US" altLang="zh-CN" sz="1600" b="1" dirty="0">
                <a:solidFill>
                  <a:srgbClr val="8C2C41"/>
                </a:solidFill>
                <a:latin typeface="+mj-ea"/>
                <a:ea typeface="+mj-ea"/>
              </a:rPr>
              <a:t>python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、</a:t>
            </a:r>
            <a:r>
              <a:rPr lang="en-US" altLang="zh-CN" sz="1600" b="1" dirty="0">
                <a:solidFill>
                  <a:srgbClr val="8C2C41"/>
                </a:solidFill>
                <a:latin typeface="+mj-ea"/>
                <a:ea typeface="+mj-ea"/>
              </a:rPr>
              <a:t>Java</a:t>
            </a:r>
            <a:r>
              <a:rPr lang="zh-CN" altLang="en-US" sz="1600" dirty="0"/>
              <a:t>编程语言 </a:t>
            </a:r>
            <a:endParaRPr lang="zh-CN" altLang="en-US" sz="16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/>
              <a:t>2.</a:t>
            </a:r>
            <a:r>
              <a:rPr lang="zh-CN" altLang="en-US" sz="1600" dirty="0"/>
              <a:t>熟悉</a:t>
            </a:r>
            <a:r>
              <a:rPr lang="en-US" altLang="zh-CN" sz="1600" b="1" dirty="0" err="1">
                <a:solidFill>
                  <a:srgbClr val="8C2C41"/>
                </a:solidFill>
                <a:latin typeface="+mj-ea"/>
                <a:ea typeface="+mj-ea"/>
              </a:rPr>
              <a:t>linux</a:t>
            </a:r>
            <a:r>
              <a:rPr lang="zh-CN" altLang="en-US" sz="1600" dirty="0"/>
              <a:t>基础知识 </a:t>
            </a:r>
            <a:endParaRPr lang="zh-CN" altLang="en-US" sz="16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/>
              <a:t>3.</a:t>
            </a:r>
            <a:r>
              <a:rPr lang="zh-CN" altLang="en-US" sz="1600" dirty="0"/>
              <a:t>熟练使用</a:t>
            </a:r>
            <a:r>
              <a:rPr lang="en-US" altLang="zh-CN" sz="1600" b="1" dirty="0">
                <a:solidFill>
                  <a:srgbClr val="8C2C41"/>
                </a:solidFill>
                <a:latin typeface="+mj-ea"/>
                <a:ea typeface="+mj-ea"/>
              </a:rPr>
              <a:t>git</a:t>
            </a:r>
            <a:r>
              <a:rPr lang="zh-CN" altLang="en-US" sz="1600" dirty="0"/>
              <a:t>版本工具 </a:t>
            </a:r>
            <a:endParaRPr lang="zh-CN" altLang="en-US" sz="16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/>
              <a:t>4.</a:t>
            </a:r>
            <a:r>
              <a:rPr lang="zh-CN" altLang="en-US" sz="1600" dirty="0"/>
              <a:t>熟悉常见的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设计模式</a:t>
            </a:r>
            <a:r>
              <a:rPr lang="zh-CN" altLang="en-US" sz="1600" dirty="0"/>
              <a:t>，如工厂模式、单例模式、策略模式等 </a:t>
            </a:r>
            <a:endParaRPr lang="zh-CN" altLang="en-US" sz="16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/>
              <a:t>5.</a:t>
            </a:r>
            <a:r>
              <a:rPr lang="zh-CN" altLang="en-US" sz="1600" dirty="0"/>
              <a:t>熟悉</a:t>
            </a:r>
            <a:r>
              <a:rPr lang="en-US" altLang="zh-CN" sz="1600" b="1" dirty="0">
                <a:solidFill>
                  <a:srgbClr val="8C2C41"/>
                </a:solidFill>
                <a:latin typeface="+mj-ea"/>
                <a:ea typeface="+mj-ea"/>
              </a:rPr>
              <a:t>RAG</a:t>
            </a:r>
            <a:r>
              <a:rPr lang="zh-CN" altLang="en-US" sz="1600" dirty="0"/>
              <a:t>大模型检索增强技术 </a:t>
            </a:r>
            <a:endParaRPr lang="zh-CN" altLang="en-US" sz="16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/>
              <a:t>6.</a:t>
            </a:r>
            <a:r>
              <a:rPr lang="zh-CN" altLang="en-US" sz="1600" dirty="0"/>
              <a:t>熟悉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大模型微调</a:t>
            </a:r>
            <a:r>
              <a:rPr lang="zh-CN" altLang="en-US" sz="1600" dirty="0"/>
              <a:t>技术及微调框架，如</a:t>
            </a:r>
            <a:r>
              <a:rPr lang="en-US" altLang="zh-CN" sz="1600" dirty="0" err="1"/>
              <a:t>ollama</a:t>
            </a:r>
            <a:r>
              <a:rPr lang="zh-CN" altLang="en-US" sz="1600" dirty="0"/>
              <a:t>、</a:t>
            </a:r>
            <a:r>
              <a:rPr lang="en-US" altLang="zh-CN" sz="1600" dirty="0"/>
              <a:t>llama-factory</a:t>
            </a:r>
            <a:r>
              <a:rPr lang="zh-CN" altLang="en-US" sz="1600" dirty="0"/>
              <a:t>等 </a:t>
            </a:r>
            <a:endParaRPr lang="zh-CN" altLang="en-US" sz="16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/>
              <a:t>7.</a:t>
            </a:r>
            <a:r>
              <a:rPr lang="zh-CN" altLang="en-US" sz="1600" dirty="0"/>
              <a:t>熟悉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多智能体</a:t>
            </a:r>
            <a:r>
              <a:rPr lang="zh-CN" altLang="en-US" sz="1600" dirty="0"/>
              <a:t>编程框架，如：</a:t>
            </a:r>
            <a:r>
              <a:rPr lang="en-US" altLang="zh-CN" sz="1600" dirty="0" err="1"/>
              <a:t>AgentScope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LangGraph</a:t>
            </a:r>
            <a:r>
              <a:rPr lang="zh-CN" altLang="en-US" sz="1600" dirty="0"/>
              <a:t>等</a:t>
            </a:r>
            <a:endParaRPr lang="en-US" altLang="zh-CN" sz="16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/>
              <a:t>8.</a:t>
            </a:r>
            <a:r>
              <a:rPr lang="zh-CN" altLang="en-US" sz="1600" dirty="0"/>
              <a:t>熟悉大模型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强化学习</a:t>
            </a:r>
            <a:r>
              <a:rPr lang="zh-CN" altLang="en-US" sz="1600" dirty="0"/>
              <a:t>相关技术，如：</a:t>
            </a:r>
            <a:r>
              <a:rPr lang="en-US" altLang="zh-CN" sz="1600" dirty="0"/>
              <a:t>DPO</a:t>
            </a:r>
            <a:r>
              <a:rPr lang="zh-CN" altLang="en-US" sz="1600" dirty="0"/>
              <a:t>、</a:t>
            </a:r>
            <a:r>
              <a:rPr lang="en-US" altLang="zh-CN" sz="1600" dirty="0"/>
              <a:t>PPO</a:t>
            </a:r>
            <a:r>
              <a:rPr lang="zh-CN" altLang="en-US" sz="1600" dirty="0"/>
              <a:t>、</a:t>
            </a:r>
            <a:r>
              <a:rPr lang="en-US" altLang="zh-CN" sz="1600" dirty="0"/>
              <a:t>GRPO</a:t>
            </a:r>
            <a:r>
              <a:rPr lang="zh-CN" altLang="en-US" sz="1600" dirty="0"/>
              <a:t>等</a:t>
            </a:r>
            <a:endParaRPr lang="en-US" altLang="zh-CN" sz="16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/>
              <a:t>9.</a:t>
            </a:r>
            <a:r>
              <a:rPr lang="zh-CN" altLang="en-US" sz="1600" dirty="0"/>
              <a:t>熟悉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面向对象数据库以及向量数据库</a:t>
            </a:r>
            <a:r>
              <a:rPr lang="zh-CN" altLang="en-US" sz="1600" dirty="0"/>
              <a:t>，例如：</a:t>
            </a:r>
            <a:r>
              <a:rPr lang="en-US" altLang="zh-CN" sz="1600" dirty="0" err="1"/>
              <a:t>Mysql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Faiss</a:t>
            </a:r>
            <a:endParaRPr lang="en-US" altLang="zh-CN" sz="16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/>
              <a:t>10.</a:t>
            </a:r>
            <a:r>
              <a:rPr lang="zh-CN" altLang="en-US" sz="1600" dirty="0"/>
              <a:t>熟悉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数据治理全流程</a:t>
            </a:r>
            <a:endParaRPr lang="zh-CN" altLang="en-US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880" y="1714817"/>
            <a:ext cx="4962525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197708" y="204562"/>
            <a:ext cx="9601200" cy="684114"/>
          </a:xfrm>
        </p:spPr>
        <p:txBody>
          <a:bodyPr>
            <a:normAutofit/>
          </a:bodyPr>
          <a:lstStyle/>
          <a:p>
            <a:r>
              <a:rPr kumimoji="1" lang="zh-CN" altLang="en-US" sz="3600" b="1" dirty="0">
                <a:solidFill>
                  <a:srgbClr val="8C2C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相关项目简介</a:t>
            </a:r>
            <a:endParaRPr kumimoji="1" lang="zh-CN" altLang="en-US" sz="3600" b="1" dirty="0">
              <a:solidFill>
                <a:srgbClr val="8C2C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1174" y="1007110"/>
            <a:ext cx="6537326" cy="537781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200000"/>
              </a:lnSpc>
            </a:pPr>
            <a:r>
              <a:rPr lang="zh-CN" altLang="en-US" sz="2400" b="1" dirty="0">
                <a:latin typeface="+mj-ea"/>
                <a:ea typeface="+mj-ea"/>
              </a:rPr>
              <a:t>国家信息中心</a:t>
            </a:r>
            <a:r>
              <a:rPr lang="en-US" altLang="zh-CN" sz="2400" b="1" dirty="0">
                <a:latin typeface="+mj-ea"/>
                <a:ea typeface="+mj-ea"/>
              </a:rPr>
              <a:t>-</a:t>
            </a:r>
            <a:r>
              <a:rPr lang="zh-CN" altLang="en-US" sz="2400" b="1" dirty="0">
                <a:latin typeface="+mj-ea"/>
                <a:ea typeface="+mj-ea"/>
              </a:rPr>
              <a:t>数据流通安全治理框架</a:t>
            </a:r>
            <a:endParaRPr lang="en-US" altLang="zh-CN" sz="2400" b="1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zh-CN" altLang="en-US" sz="1600" b="1" dirty="0">
                <a:latin typeface="+mj-ea"/>
                <a:ea typeface="+mj-ea"/>
              </a:rPr>
              <a:t>研究背景：</a:t>
            </a:r>
            <a:endParaRPr lang="en-US" altLang="zh-CN" sz="1600" b="1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+mj-ea"/>
                <a:ea typeface="+mj-ea"/>
              </a:rPr>
              <a:t>客观存在</a:t>
            </a:r>
            <a:r>
              <a:rPr lang="zh-CN" altLang="en-US" sz="1600" dirty="0">
                <a:latin typeface="+mj-ea"/>
                <a:ea typeface="+mj-ea"/>
              </a:rPr>
              <a:t> 数据是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客观事务（实体）</a:t>
            </a:r>
            <a:r>
              <a:rPr lang="zh-CN" altLang="en-US" sz="1600" dirty="0">
                <a:latin typeface="+mj-ea"/>
                <a:ea typeface="+mj-ea"/>
              </a:rPr>
              <a:t>的状态和运动变化的记录，天然带有实体（人）的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隐私信息</a:t>
            </a:r>
            <a:r>
              <a:rPr lang="zh-CN" altLang="en-US" sz="1600" dirty="0">
                <a:latin typeface="+mj-ea"/>
                <a:ea typeface="+mj-ea"/>
              </a:rPr>
              <a:t>或者（机构）的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机密信息</a:t>
            </a:r>
            <a:endParaRPr lang="zh-CN" altLang="en-US" sz="1600" b="1" dirty="0">
              <a:solidFill>
                <a:srgbClr val="8C2C4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+mj-ea"/>
                <a:ea typeface="+mj-ea"/>
              </a:rPr>
              <a:t>客观特性</a:t>
            </a:r>
            <a:r>
              <a:rPr lang="zh-CN" altLang="en-US" sz="1600" dirty="0">
                <a:latin typeface="+mj-ea"/>
                <a:ea typeface="+mj-ea"/>
              </a:rPr>
              <a:t> 数据具有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复制、篡改成本极低</a:t>
            </a:r>
            <a:r>
              <a:rPr lang="zh-CN" altLang="en-US" sz="1600" dirty="0">
                <a:latin typeface="+mj-ea"/>
                <a:ea typeface="+mj-ea"/>
              </a:rPr>
              <a:t>，而技术防范的成本极高的特点，导致数据流通安全风险凸显</a:t>
            </a:r>
            <a:endParaRPr lang="zh-CN" altLang="en-US" sz="16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+mj-ea"/>
                <a:ea typeface="+mj-ea"/>
              </a:rPr>
              <a:t>主观特性</a:t>
            </a:r>
            <a:r>
              <a:rPr lang="zh-CN" altLang="en-US" sz="1600" dirty="0">
                <a:latin typeface="+mj-ea"/>
                <a:ea typeface="+mj-ea"/>
              </a:rPr>
              <a:t> 数据安全和隐私具有社会性和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主观性，难以界定</a:t>
            </a:r>
            <a:r>
              <a:rPr lang="zh-CN" altLang="en-US" sz="1600" dirty="0">
                <a:latin typeface="+mj-ea"/>
                <a:ea typeface="+mj-ea"/>
              </a:rPr>
              <a:t>，规则繁杂，社会还缺乏共识</a:t>
            </a:r>
            <a:endParaRPr lang="zh-CN" altLang="en-US" sz="16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+mj-ea"/>
                <a:ea typeface="+mj-ea"/>
              </a:rPr>
              <a:t>主体特性</a:t>
            </a:r>
            <a:r>
              <a:rPr lang="zh-CN" altLang="en-US" sz="1600" dirty="0">
                <a:latin typeface="+mj-ea"/>
                <a:ea typeface="+mj-ea"/>
              </a:rPr>
              <a:t> 数据价值开发利用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链路长、模式多</a:t>
            </a:r>
            <a:r>
              <a:rPr lang="zh-CN" altLang="en-US" sz="1600" dirty="0">
                <a:latin typeface="+mj-ea"/>
                <a:ea typeface="+mj-ea"/>
              </a:rPr>
              <a:t>，主体安全能力差异大，数据流通安全风险的系统管控难度大</a:t>
            </a:r>
            <a:endParaRPr lang="en-US" altLang="zh-CN" sz="1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+mj-ea"/>
                <a:ea typeface="+mj-ea"/>
              </a:rPr>
              <a:t>成果：</a:t>
            </a:r>
            <a:endParaRPr lang="en-US" altLang="zh-CN" sz="1600" b="1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+mj-ea"/>
                <a:ea typeface="+mj-ea"/>
              </a:rPr>
              <a:t> </a:t>
            </a:r>
            <a:r>
              <a:rPr lang="zh-CN" altLang="en-US" sz="1400" dirty="0">
                <a:latin typeface="+mj-ea"/>
                <a:ea typeface="+mj-ea"/>
              </a:rPr>
              <a:t>基于数据社会化理论 ，提出了一个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“</a:t>
            </a:r>
            <a:r>
              <a:rPr lang="en-US" altLang="zh-CN" sz="1600" b="1" dirty="0">
                <a:solidFill>
                  <a:srgbClr val="8C2C41"/>
                </a:solidFill>
                <a:latin typeface="+mj-ea"/>
                <a:ea typeface="+mj-ea"/>
              </a:rPr>
              <a:t>11141”</a:t>
            </a:r>
            <a:r>
              <a:rPr lang="zh-CN" altLang="en-US" sz="1400" dirty="0">
                <a:latin typeface="+mj-ea"/>
                <a:ea typeface="+mj-ea"/>
              </a:rPr>
              <a:t>数据流通安全治理理论框架 ，旨在通过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技术、产业、标准、政策和实践“五位一体” </a:t>
            </a:r>
            <a:r>
              <a:rPr lang="zh-CN" altLang="en-US" sz="1400" dirty="0">
                <a:latin typeface="+mj-ea"/>
                <a:ea typeface="+mj-ea"/>
              </a:rPr>
              <a:t>的治理手段 ，实现数据流通开发利用和安全保护的统一 ，以促进数据社会化进程 。</a:t>
            </a:r>
            <a:endParaRPr lang="zh-CN" altLang="en-US" sz="1400" b="1" dirty="0">
              <a:latin typeface="+mj-ea"/>
              <a:ea typeface="+mj-ea"/>
            </a:endParaRPr>
          </a:p>
          <a:p>
            <a:pPr lvl="0">
              <a:lnSpc>
                <a:spcPct val="200000"/>
              </a:lnSpc>
            </a:pPr>
            <a:endParaRPr lang="en-US" altLang="zh-CN" sz="1600" b="1" dirty="0">
              <a:latin typeface="+mj-ea"/>
              <a:ea typeface="+mj-ea"/>
            </a:endParaRPr>
          </a:p>
          <a:p>
            <a:pPr lvl="0">
              <a:lnSpc>
                <a:spcPct val="20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+mj-ea"/>
                <a:ea typeface="+mj-ea"/>
              </a:rPr>
              <a:t>	</a:t>
            </a:r>
            <a:endParaRPr lang="en-US" altLang="zh-CN" sz="16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0" y="1319692"/>
            <a:ext cx="4943475" cy="12763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3027058"/>
            <a:ext cx="4943475" cy="29524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197708" y="204562"/>
            <a:ext cx="9601200" cy="684114"/>
          </a:xfrm>
        </p:spPr>
        <p:txBody>
          <a:bodyPr>
            <a:normAutofit/>
          </a:bodyPr>
          <a:lstStyle/>
          <a:p>
            <a:r>
              <a:rPr kumimoji="1" lang="zh-CN" altLang="en-US" sz="3600" b="1" dirty="0">
                <a:solidFill>
                  <a:srgbClr val="8C2C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相关项目简介</a:t>
            </a:r>
            <a:endParaRPr kumimoji="1" lang="zh-CN" altLang="en-US" sz="3600" b="1" dirty="0">
              <a:solidFill>
                <a:srgbClr val="8C2C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1174" y="1007110"/>
            <a:ext cx="6223923" cy="537781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200000"/>
              </a:lnSpc>
            </a:pPr>
            <a:r>
              <a:rPr lang="zh-CN" altLang="en-US" sz="2000" b="1" dirty="0">
                <a:latin typeface="+mj-ea"/>
                <a:ea typeface="+mj-ea"/>
              </a:rPr>
              <a:t>中国工程院</a:t>
            </a:r>
            <a:r>
              <a:rPr lang="en-US" altLang="zh-CN" sz="2000" b="1" dirty="0">
                <a:latin typeface="+mj-ea"/>
                <a:ea typeface="+mj-ea"/>
              </a:rPr>
              <a:t>-</a:t>
            </a:r>
            <a:r>
              <a:rPr lang="zh-CN" altLang="en-US" sz="2000" b="1" dirty="0">
                <a:latin typeface="+mj-ea"/>
                <a:ea typeface="+mj-ea"/>
              </a:rPr>
              <a:t>数据流通背景下的数据安全治理体系研究报告</a:t>
            </a:r>
            <a:endParaRPr lang="en-US" altLang="zh-CN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0">
              <a:lnSpc>
                <a:spcPct val="200000"/>
              </a:lnSpc>
            </a:pPr>
            <a:r>
              <a:rPr lang="zh-CN" altLang="en-US" sz="1600" b="1" dirty="0">
                <a:latin typeface="+mj-ea"/>
                <a:ea typeface="+mj-ea"/>
              </a:rPr>
              <a:t>研究背景：</a:t>
            </a:r>
            <a:endParaRPr lang="en-US" altLang="zh-CN" sz="1600" b="1" dirty="0">
              <a:latin typeface="+mj-ea"/>
              <a:ea typeface="+mj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/>
              <a:t>随着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数字经济</a:t>
            </a:r>
            <a:r>
              <a:rPr lang="zh-CN" altLang="en-US" sz="1600" dirty="0"/>
              <a:t>的蓬勃发展，数据已成为关键战略性资源，其流通安全对于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推动经济增长、保障国家安全</a:t>
            </a:r>
            <a:r>
              <a:rPr lang="zh-CN" altLang="en-US" sz="1600" dirty="0"/>
              <a:t>至关重要。</a:t>
            </a:r>
            <a:endParaRPr lang="en-US" altLang="zh-CN" sz="1600" dirty="0"/>
          </a:p>
          <a:p>
            <a:pPr>
              <a:lnSpc>
                <a:spcPct val="200000"/>
              </a:lnSpc>
            </a:pPr>
            <a:r>
              <a:rPr lang="zh-CN" altLang="en-US" sz="1600" b="1" dirty="0">
                <a:latin typeface="+mj-ea"/>
                <a:ea typeface="+mj-ea"/>
              </a:rPr>
              <a:t>核心成果：</a:t>
            </a:r>
            <a:endParaRPr lang="en-US" altLang="zh-CN" sz="1600" b="1" dirty="0">
              <a:latin typeface="+mj-ea"/>
              <a:ea typeface="+mj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/>
              <a:t>本报告运用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五位一体</a:t>
            </a:r>
            <a:r>
              <a:rPr lang="zh-CN" altLang="en-US" sz="1600" dirty="0"/>
              <a:t>框架分析我国数据流通安全治理，发现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技术</a:t>
            </a:r>
            <a:r>
              <a:rPr lang="zh-CN" altLang="en-US" sz="1600" dirty="0"/>
              <a:t>缺事后、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产业</a:t>
            </a:r>
            <a:r>
              <a:rPr lang="zh-CN" altLang="en-US" sz="1600" dirty="0"/>
              <a:t>碎片化、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标准</a:t>
            </a:r>
            <a:r>
              <a:rPr lang="zh-CN" altLang="en-US" sz="1600" dirty="0"/>
              <a:t>待协同、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政策</a:t>
            </a:r>
            <a:r>
              <a:rPr lang="zh-CN" altLang="en-US" sz="1600" dirty="0"/>
              <a:t>偏供给、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实践</a:t>
            </a:r>
            <a:r>
              <a:rPr lang="zh-CN" altLang="en-US" sz="1600" dirty="0"/>
              <a:t>遇链式挑战（数据孤岛→低质量→安全焦虑→合规成本→价值抑制） 。报告提出建议以平衡安全与价值，激活数据潜能，护航数字经济 。</a:t>
            </a:r>
            <a:endParaRPr lang="zh-CN" altLang="en-US" sz="1600" dirty="0"/>
          </a:p>
          <a:p>
            <a:pPr lvl="0">
              <a:lnSpc>
                <a:spcPct val="200000"/>
              </a:lnSpc>
            </a:pPr>
            <a:endParaRPr lang="en-US" altLang="zh-CN" sz="16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9804" y="2903699"/>
            <a:ext cx="4611022" cy="35615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650" y="1007110"/>
            <a:ext cx="3686175" cy="19920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197708" y="204562"/>
            <a:ext cx="9601200" cy="684114"/>
          </a:xfrm>
        </p:spPr>
        <p:txBody>
          <a:bodyPr>
            <a:normAutofit/>
          </a:bodyPr>
          <a:lstStyle/>
          <a:p>
            <a:r>
              <a:rPr kumimoji="1" lang="zh-CN" altLang="en-US" sz="3600" b="1" dirty="0">
                <a:solidFill>
                  <a:srgbClr val="8C2C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相关项目简介</a:t>
            </a:r>
            <a:endParaRPr kumimoji="1" lang="zh-CN" altLang="en-US" sz="3600" b="1" dirty="0">
              <a:solidFill>
                <a:srgbClr val="8C2C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2599" y="1007109"/>
            <a:ext cx="6223923" cy="537781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200000"/>
              </a:lnSpc>
            </a:pPr>
            <a:r>
              <a:rPr lang="zh-CN" altLang="en-US" sz="2400" b="1" dirty="0">
                <a:latin typeface="+mj-ea"/>
                <a:ea typeface="+mj-ea"/>
              </a:rPr>
              <a:t>一网治之</a:t>
            </a:r>
            <a:endParaRPr lang="en-US" altLang="zh-CN" sz="2400" b="1" dirty="0">
              <a:latin typeface="+mj-ea"/>
              <a:ea typeface="+mj-ea"/>
            </a:endParaRPr>
          </a:p>
          <a:p>
            <a:pPr lvl="0">
              <a:lnSpc>
                <a:spcPct val="200000"/>
              </a:lnSpc>
            </a:pPr>
            <a:r>
              <a:rPr lang="zh-CN" altLang="en-US" sz="1600" b="1" dirty="0">
                <a:latin typeface="+mj-ea"/>
                <a:ea typeface="+mj-ea"/>
              </a:rPr>
              <a:t>研究背景：</a:t>
            </a:r>
            <a:endParaRPr lang="en-US" altLang="zh-CN" sz="1600" b="1" dirty="0">
              <a:latin typeface="+mj-ea"/>
              <a:ea typeface="+mj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000000"/>
                </a:solidFill>
                <a:latin typeface="+mj-ea"/>
                <a:ea typeface="+mj-ea"/>
              </a:rPr>
              <a:t>智慧城市管理往往困难重重，面临着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跨域数据难治理、多源数据难融合、治理效果难量化</a:t>
            </a:r>
            <a:r>
              <a:rPr lang="zh-CN" altLang="en-US" sz="1600" dirty="0">
                <a:solidFill>
                  <a:srgbClr val="000000"/>
                </a:solidFill>
                <a:latin typeface="+mj-ea"/>
                <a:ea typeface="+mj-ea"/>
              </a:rPr>
              <a:t>等诸多挑战。</a:t>
            </a:r>
            <a:endParaRPr lang="zh-CN" altLang="en-US" sz="1600" dirty="0">
              <a:solidFill>
                <a:srgbClr val="000000"/>
              </a:solidFill>
              <a:latin typeface="+mj-ea"/>
              <a:ea typeface="+mj-ea"/>
            </a:endParaRPr>
          </a:p>
          <a:p>
            <a:pPr lvl="0">
              <a:lnSpc>
                <a:spcPct val="20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</a:rPr>
              <a:t>成果：</a:t>
            </a:r>
            <a:endParaRPr lang="en-US" altLang="zh-CN" sz="16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构建一个能够衡量工业园区治理水平的智能系统，包括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数据汇聚、处理非结构化数据、指标动态调整、生成智能报告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等功能模块</a:t>
            </a:r>
            <a:endParaRPr lang="en-US" altLang="zh-CN" sz="16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962" y="1714500"/>
            <a:ext cx="5097191" cy="37436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197708" y="204562"/>
            <a:ext cx="9601200" cy="684114"/>
          </a:xfrm>
        </p:spPr>
        <p:txBody>
          <a:bodyPr>
            <a:normAutofit/>
          </a:bodyPr>
          <a:lstStyle/>
          <a:p>
            <a:r>
              <a:rPr kumimoji="1" lang="zh-CN" altLang="en-US" sz="3600" b="1" dirty="0">
                <a:solidFill>
                  <a:srgbClr val="8C2C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相关项目简介</a:t>
            </a:r>
            <a:endParaRPr kumimoji="1" lang="zh-CN" altLang="en-US" sz="3600" b="1" dirty="0">
              <a:solidFill>
                <a:srgbClr val="8C2C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1174" y="1007110"/>
            <a:ext cx="6223923" cy="537781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200000"/>
              </a:lnSpc>
            </a:pPr>
            <a:r>
              <a:rPr lang="zh-CN" altLang="en-US" sz="2400" b="1" dirty="0">
                <a:latin typeface="+mj-ea"/>
                <a:ea typeface="+mj-ea"/>
              </a:rPr>
              <a:t>基于多智能体的数据分析系统</a:t>
            </a:r>
            <a:endParaRPr lang="en-US" altLang="zh-CN" sz="2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0">
              <a:lnSpc>
                <a:spcPct val="200000"/>
              </a:lnSpc>
            </a:pPr>
            <a:r>
              <a:rPr lang="zh-CN" altLang="en-US" sz="1600" b="1" dirty="0">
                <a:latin typeface="+mj-ea"/>
                <a:ea typeface="+mj-ea"/>
              </a:rPr>
              <a:t>研究背景：</a:t>
            </a:r>
            <a:endParaRPr lang="en-US" altLang="zh-CN" sz="1600" b="1" dirty="0">
              <a:latin typeface="+mj-ea"/>
              <a:ea typeface="+mj-ea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j-ea"/>
                <a:ea typeface="+mj-ea"/>
              </a:rPr>
              <a:t>针对人类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数据科学团队协作</a:t>
            </a:r>
            <a:r>
              <a:rPr lang="zh-CN" altLang="en-US" sz="1600" dirty="0">
                <a:latin typeface="+mj-ea"/>
                <a:ea typeface="+mj-ea"/>
              </a:rPr>
              <a:t>的挑战，本研究利用新兴的基于大型语言模型的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多智能体系统</a:t>
            </a:r>
            <a:r>
              <a:rPr lang="en-US" altLang="zh-CN" sz="1600" b="1" dirty="0">
                <a:solidFill>
                  <a:srgbClr val="8C2C41"/>
                </a:solidFill>
                <a:latin typeface="+mj-ea"/>
                <a:ea typeface="+mj-ea"/>
              </a:rPr>
              <a:t>(LLM MAS) </a:t>
            </a:r>
            <a:r>
              <a:rPr lang="zh-CN" altLang="en-US" sz="1600" dirty="0">
                <a:latin typeface="+mj-ea"/>
                <a:ea typeface="+mj-ea"/>
              </a:rPr>
              <a:t>进行端到端数据分析与叙事，并探究其智能体团队的协作机制与有效性。</a:t>
            </a:r>
            <a:endParaRPr lang="en-US" altLang="zh-CN" sz="1600" dirty="0">
              <a:latin typeface="+mj-ea"/>
              <a:ea typeface="+mj-ea"/>
            </a:endParaRPr>
          </a:p>
          <a:p>
            <a:pPr lvl="0">
              <a:lnSpc>
                <a:spcPct val="20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</a:rPr>
              <a:t>成果：</a:t>
            </a:r>
            <a:endParaRPr lang="en-US" altLang="zh-CN" sz="16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j-ea"/>
                <a:ea typeface="+mj-ea"/>
              </a:rPr>
              <a:t>研究发现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多智能体系统</a:t>
            </a:r>
            <a:r>
              <a:rPr lang="zh-CN" altLang="en-US" sz="1600" dirty="0">
                <a:latin typeface="+mj-ea"/>
                <a:ea typeface="+mj-ea"/>
              </a:rPr>
              <a:t>在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结果质量</a:t>
            </a:r>
            <a:r>
              <a:rPr lang="zh-CN" altLang="en-US" sz="1600" dirty="0">
                <a:latin typeface="+mj-ea"/>
                <a:ea typeface="+mj-ea"/>
              </a:rPr>
              <a:t>上优于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单智能体</a:t>
            </a:r>
            <a:r>
              <a:rPr lang="zh-CN" altLang="en-US" sz="1600" dirty="0">
                <a:latin typeface="+mj-ea"/>
                <a:ea typeface="+mj-ea"/>
              </a:rPr>
              <a:t>，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不同协作模式</a:t>
            </a:r>
            <a:r>
              <a:rPr lang="zh-CN" altLang="en-US" sz="1600" dirty="0">
                <a:latin typeface="+mj-ea"/>
                <a:ea typeface="+mj-ea"/>
              </a:rPr>
              <a:t>对效率和创新性有显著影响，且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团队结构、协作模式、讨论充分度和报告详尽度</a:t>
            </a:r>
            <a:r>
              <a:rPr lang="zh-CN" altLang="en-US" sz="1600" dirty="0">
                <a:latin typeface="+mj-ea"/>
                <a:ea typeface="+mj-ea"/>
              </a:rPr>
              <a:t>是预测其成功的</a:t>
            </a:r>
            <a:r>
              <a:rPr lang="zh-CN" altLang="en-US" sz="1600" b="1" dirty="0">
                <a:solidFill>
                  <a:srgbClr val="8C2C41"/>
                </a:solidFill>
                <a:latin typeface="+mj-ea"/>
                <a:ea typeface="+mj-ea"/>
              </a:rPr>
              <a:t>关键指标</a:t>
            </a:r>
            <a:r>
              <a:rPr lang="zh-CN" altLang="en-US" sz="1600" dirty="0">
                <a:latin typeface="+mj-ea"/>
                <a:ea typeface="+mj-ea"/>
              </a:rPr>
              <a:t>，强调了结构化协作对构建高效</a:t>
            </a:r>
            <a:r>
              <a:rPr lang="en-US" altLang="zh-CN" sz="1600" dirty="0">
                <a:latin typeface="+mj-ea"/>
                <a:ea typeface="+mj-ea"/>
              </a:rPr>
              <a:t>LLM MAS</a:t>
            </a:r>
            <a:r>
              <a:rPr lang="zh-CN" altLang="en-US" sz="1600" dirty="0">
                <a:latin typeface="+mj-ea"/>
                <a:ea typeface="+mj-ea"/>
              </a:rPr>
              <a:t>的重要性。</a:t>
            </a:r>
            <a:endParaRPr lang="en-US" altLang="zh-CN" sz="16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5097" y="2362200"/>
            <a:ext cx="5405438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197708" y="204562"/>
            <a:ext cx="9601200" cy="684114"/>
          </a:xfrm>
        </p:spPr>
        <p:txBody>
          <a:bodyPr>
            <a:normAutofit/>
          </a:bodyPr>
          <a:lstStyle/>
          <a:p>
            <a:r>
              <a:rPr kumimoji="1" lang="zh-CN" altLang="en-US" sz="3600" b="1" dirty="0">
                <a:solidFill>
                  <a:srgbClr val="8C2C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个人优势</a:t>
            </a:r>
            <a:r>
              <a:rPr kumimoji="1" lang="en-US" altLang="zh-CN" sz="3600" b="1" dirty="0">
                <a:solidFill>
                  <a:srgbClr val="8C2C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kumimoji="1" lang="zh-CN" altLang="en-US" sz="3600" b="1" dirty="0">
                <a:solidFill>
                  <a:srgbClr val="8C2C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未来工作设想</a:t>
            </a:r>
            <a:endParaRPr kumimoji="1" lang="zh-CN" altLang="en-US" sz="3600" b="1" dirty="0">
              <a:solidFill>
                <a:srgbClr val="8C2C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1175" y="1007110"/>
            <a:ext cx="4413250" cy="211708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20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</a:rPr>
              <a:t>个人优势：</a:t>
            </a:r>
            <a:endParaRPr lang="en-US" altLang="zh-CN" sz="16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学习能力强</a:t>
            </a:r>
            <a:endParaRPr lang="zh-CN" alt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适应性好</a:t>
            </a:r>
            <a:endParaRPr lang="zh-CN" alt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吃苦耐劳</a:t>
            </a:r>
            <a:endParaRPr lang="zh-CN" alt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不害怕失败</a:t>
            </a:r>
            <a:endParaRPr lang="zh-CN" alt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上进心强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zh-CN" altLang="en-US" dirty="0"/>
          </a:p>
          <a:p>
            <a:pPr lvl="0">
              <a:lnSpc>
                <a:spcPct val="20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</a:rPr>
              <a:t>未来设想：</a:t>
            </a:r>
            <a:endParaRPr lang="en-US" altLang="zh-CN" sz="16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0">
              <a:lnSpc>
                <a:spcPct val="200000"/>
              </a:lnSpc>
            </a:pPr>
            <a:endParaRPr lang="en-US" altLang="zh-CN" sz="16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3401" y="3790950"/>
            <a:ext cx="5067300" cy="1665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近期 </a:t>
            </a:r>
            <a:r>
              <a:rPr lang="en-US" altLang="zh-CN" dirty="0"/>
              <a:t>(1-2</a:t>
            </a:r>
            <a:r>
              <a:rPr lang="zh-CN" altLang="en-US" dirty="0"/>
              <a:t>年</a:t>
            </a:r>
            <a:r>
              <a:rPr lang="en-US" altLang="zh-CN" dirty="0"/>
              <a:t>): </a:t>
            </a:r>
            <a:r>
              <a:rPr lang="zh-CN" altLang="en-US" dirty="0"/>
              <a:t>掌握核心技能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中期 </a:t>
            </a:r>
            <a:r>
              <a:rPr lang="en-US" altLang="zh-CN" dirty="0"/>
              <a:t>(2-4</a:t>
            </a:r>
            <a:r>
              <a:rPr lang="zh-CN" altLang="en-US" dirty="0"/>
              <a:t>年</a:t>
            </a:r>
            <a:r>
              <a:rPr lang="en-US" altLang="zh-CN" dirty="0"/>
              <a:t>): </a:t>
            </a:r>
            <a:r>
              <a:rPr lang="zh-CN" altLang="en-US" dirty="0"/>
              <a:t>拓展技术深度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长期 </a:t>
            </a:r>
            <a:r>
              <a:rPr lang="en-US" altLang="zh-CN" dirty="0"/>
              <a:t>(4</a:t>
            </a:r>
            <a:r>
              <a:rPr lang="zh-CN" altLang="en-US" dirty="0"/>
              <a:t>年以上</a:t>
            </a:r>
            <a:r>
              <a:rPr lang="en-US" altLang="zh-CN" dirty="0"/>
              <a:t>): </a:t>
            </a:r>
            <a:r>
              <a:rPr lang="zh-CN" altLang="en-US" dirty="0"/>
              <a:t>引领架构与创新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f47a9d3b-8fd1-447b-b398-bcc70630ade2"/>
  <p:tag name="COMMONDATA" val="eyJoZGlkIjoiMzgwMTczOThlMzc2ZWM2MzVkZDQ3NmI0ZjQ1NjM5OWIifQ=="/>
  <p:tag name="RESOURCE_RECORD_KEY" val="{&quot;10&quot;:[20093178,3637549,3637416,20093150]}"/>
</p:tagLst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1745</Words>
  <Application>WPS 演示</Application>
  <PresentationFormat>宽屏</PresentationFormat>
  <Paragraphs>105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Franklin Gothic Book</vt:lpstr>
      <vt:lpstr>Times New Roman</vt:lpstr>
      <vt:lpstr>等线</vt:lpstr>
      <vt:lpstr>Arial Unicode MS</vt:lpstr>
      <vt:lpstr>黑体</vt:lpstr>
      <vt:lpstr>Calibri</vt:lpstr>
      <vt:lpstr>Crop</vt:lpstr>
      <vt:lpstr>PowerPoint 演示文稿</vt:lpstr>
      <vt:lpstr>个人简介</vt:lpstr>
      <vt:lpstr>研究方向与技能</vt:lpstr>
      <vt:lpstr>研究方向与技能</vt:lpstr>
      <vt:lpstr>相关项目简介</vt:lpstr>
      <vt:lpstr>相关项目简介</vt:lpstr>
      <vt:lpstr>相关项目简介</vt:lpstr>
      <vt:lpstr>相关项目简介</vt:lpstr>
      <vt:lpstr>个人优势&amp;未来工作设想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shuang</dc:creator>
  <cp:lastModifiedBy>鹏sir</cp:lastModifiedBy>
  <cp:revision>780</cp:revision>
  <dcterms:created xsi:type="dcterms:W3CDTF">2023-04-20T07:43:00Z</dcterms:created>
  <dcterms:modified xsi:type="dcterms:W3CDTF">2025-11-16T05:53:40Z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43A05E570EBD4481960F48A1BB1AA9DE_13</vt:lpwstr>
  </property>
  <property fmtid="{D5CDD505-2E9C-101B-9397-08002B2CF9AE}" pid="3" name="KSOProductBuildVer">
    <vt:lpwstr>2052-12.1.0.23542</vt:lpwstr>
  </property>
</Properties>
</file>